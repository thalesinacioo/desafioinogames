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371600"/>
            <a:ext cx="6217920" cy="2468880"/>
          </a:xfrm>
          <a:prstGeom prst="rect">
            <a:avLst/>
          </a:prstGeom>
          <a:solidFill>
            <a:srgbClr val="0D2D5A">
              <a:alpha val="90196"/>
            </a:srgbClr>
          </a:solidFill>
          <a:ln cap="flat" cmpd="sng" w="12700">
            <a:solidFill>
              <a:srgbClr val="0D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1371600"/>
            <a:ext cx="109728" cy="2468880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74320" y="146304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C4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Desafio Técnico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87452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" y="2697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C4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Nebula Forge Studios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274320" y="315468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274320" y="3291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Thales Fernandes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74320" y="35935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C4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r>
              <a:rPr lang="en-US" sz="1100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 INO Games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4320" y="46634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99CC"/>
                </a:solidFill>
                <a:latin typeface="Calibri"/>
                <a:ea typeface="Calibri"/>
                <a:cs typeface="Calibri"/>
                <a:sym typeface="Calibri"/>
              </a:rPr>
              <a:t>Abril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Contexto do Cenário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Nebula Forge Studios enfrenta detecção tardia de bugs, com 40% dos problemas identificados próximos ao release e bugs críticos escapando para produção. Com 2 QAs juniores, sem regressão estruturada e testes majoritariamente reativos, o desafio é elevar a qualidade sem comprometer a velocidade.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11480" y="1874520"/>
            <a:ext cx="1828800" cy="9144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1874520"/>
            <a:ext cx="54864" cy="9144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19476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23774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bugs críticos pós-freeze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23160" y="1874520"/>
            <a:ext cx="1828800" cy="9144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423160" y="1874520"/>
            <a:ext cx="54864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560320" y="19476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560320" y="23774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escaparam para produção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434840" y="1874520"/>
            <a:ext cx="1828800" cy="9144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434840" y="1874520"/>
            <a:ext cx="54864" cy="914400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0" y="19476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0" y="23774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encontrados tardiamente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46520" y="1874520"/>
            <a:ext cx="1828800" cy="9144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446520" y="1874520"/>
            <a:ext cx="54864" cy="914400"/>
          </a:xfrm>
          <a:prstGeom prst="rect">
            <a:avLst/>
          </a:prstGeom>
          <a:solidFill>
            <a:srgbClr val="777777"/>
          </a:solidFill>
          <a:ln cap="flat" cmpd="sng" w="127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583680" y="19476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583680" y="23774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tempo médio de correção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11480" y="29443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Estrutura do time: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11475" y="3200400"/>
            <a:ext cx="42063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 QAs juniores  |  6 desenvolvedores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 suíte de regressão estruturada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Testes majoritariamente exploratórios e reativos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29443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Restrições: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754875" y="3200400"/>
            <a:ext cx="39318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Não reduzir cadência de entregas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Máx. 3 iniciativas nas próximas 2 semanas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Time de dev resistente a mudanças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 orçamento imediato para ferramentas pagas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QUESTÃO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Diagnóstico e Prioridades (2 semanas)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5"/>
          <p:cNvSpPr/>
          <p:nvPr/>
        </p:nvSpPr>
        <p:spPr>
          <a:xfrm>
            <a:off x="411480" y="1051560"/>
            <a:ext cx="2651760" cy="1371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11480" y="1051560"/>
            <a:ext cx="265176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02920" y="1115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463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Sem regressão estruturada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" y="1737360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Cada build depende de memória e sorte. Sem linha de base para comparar comportamentos entre versões</a:t>
            </a:r>
            <a:r>
              <a:rPr lang="en-US" sz="95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5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 explica os 9 bugs escapados.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46120" y="1051560"/>
            <a:ext cx="2651760" cy="1371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337560" y="1115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337560" y="1463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Detecção tardia (shift-right)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37560" y="1737360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QA como 'portão', não como parceiro. 40% dos bugs encontrados no fim do ciclo. Custo de correção explode quanto mais tarde o bug é achado.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80760" y="1051560"/>
            <a:ext cx="2651760" cy="1371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80760" y="1051560"/>
            <a:ext cx="265176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172200" y="1115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72200" y="1463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Tempo de correção alto (3d)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72200" y="1737360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Bugs críticos + ciclo lento = risco real em cada release. Pressiona o time e aumenta chance de hotfixes emergenciais pós-produção.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25786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3 Ações Prioritárias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11480" y="2907792"/>
            <a:ext cx="8321040" cy="4572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14400" y="294436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Criar Smoke Test mínimo por feature nova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120640" y="294436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Bloqueia bugs óbvios antes da regressão. Custo baixo, retorno imediato.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1480" y="3410712"/>
            <a:ext cx="83210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11480" y="3410712"/>
            <a:ext cx="457200" cy="4572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11480" y="34107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914400" y="344728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Mapear fluxos críticos (progressão, matchmaking, economia)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120640" y="344728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Sem mapeamento não há regressão possível</a:t>
            </a: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é o alicerce de tudo.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11480" y="3913632"/>
            <a:ext cx="8321040" cy="4572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11480" y="3913632"/>
            <a:ext cx="457200" cy="4572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11480" y="3913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14400" y="395020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Estabelecer critério de entrada em QA (DoR)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120640" y="395020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Evita que QA receba features incompletas e desperdice ciclos.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Automação não entra agora</a:t>
            </a:r>
            <a:r>
              <a:rPr i="1"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 sem mapeamento de fluxos e sem DoR, automatizar seria construir em areia.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QUESTÃO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Estrutura de Testes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411480" y="1051560"/>
            <a:ext cx="2651760" cy="347472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11480" y="1051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Smoke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11480" y="1399032"/>
            <a:ext cx="2651760" cy="1828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21208" y="1463040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Executado a cada build semanal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Cobre: login, matchmaking, progressão, economia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Duração máx.: 30–45 min por QA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 falhar → build devolvida sem regressão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227832" y="1051560"/>
            <a:ext cx="2651760" cy="347472"/>
          </a:xfrm>
          <a:prstGeom prst="rect">
            <a:avLst/>
          </a:prstGeom>
          <a:solidFill>
            <a:srgbClr val="639922"/>
          </a:solidFill>
          <a:ln cap="flat" cmpd="sng" w="12700">
            <a:solidFill>
              <a:srgbClr val="63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227832" y="1051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227832" y="1399032"/>
            <a:ext cx="2651760" cy="1828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337560" y="1463040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Baseada nos fluxos críticos mapeados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Completa antes de cada release trimestral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Parcial nas builds semanais (áreas da sprint)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Cresce organicamente com o produto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044184" y="1051560"/>
            <a:ext cx="2651760" cy="347472"/>
          </a:xfrm>
          <a:prstGeom prst="rect">
            <a:avLst/>
          </a:prstGeom>
          <a:solidFill>
            <a:srgbClr val="7F77DD"/>
          </a:solidFill>
          <a:ln cap="flat" cmpd="sng" w="12700">
            <a:solidFill>
              <a:srgbClr val="7F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044184" y="1051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Exploratório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044184" y="1399032"/>
            <a:ext cx="2651760" cy="18288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153912" y="1463040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Reservado para features novas e alto risco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Sessões com time-box (1h, com charter)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Documentação leve</a:t>
            </a: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sem burocracia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Conduzido pelo Lead em áreas críticas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11480" y="3401568"/>
            <a:ext cx="8321040" cy="274320"/>
          </a:xfrm>
          <a:prstGeom prst="rect">
            <a:avLst/>
          </a:prstGeom>
          <a:solidFill>
            <a:srgbClr val="FEF3E2"/>
          </a:solidFill>
          <a:ln cap="flat" cmpd="sng" w="12700">
            <a:solidFill>
              <a:srgbClr val="F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02920" y="34015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O que NÃO testaria agora: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51760" y="34015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Automação E2E  •  Performance/Stress  •  Localização  •  Plataformas secundárias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1480" y="38221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Mudança no Fluxo</a:t>
            </a:r>
            <a:r>
              <a:rPr b="1" lang="en-US" sz="1300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 Shift-Left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11480" y="4133088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QA participa do refinamento: lê design doc, levanta riscos antes do dev começar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Critérios de aceite escritos antes do desenvolvimento</a:t>
            </a: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dev sabe o que será validado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 de QA em PRs de features críticas: validação de comportamento, não code 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Bug triage semanal: evita que bugs 'durmam' e explodam no freeze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QUESTÕES 4 &amp;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Alocação no Ciclo de Produção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7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7"/>
          <p:cNvSpPr/>
          <p:nvPr/>
        </p:nvSpPr>
        <p:spPr>
          <a:xfrm>
            <a:off x="411475" y="1051550"/>
            <a:ext cx="83211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11475" y="1051550"/>
            <a:ext cx="1463100" cy="3783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11475" y="1051550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920237" y="1051550"/>
            <a:ext cx="10059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920237" y="1051550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971798" y="1083757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Levantar riscos, critérios de aceite, mapear dependências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11475" y="1470235"/>
            <a:ext cx="83211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11475" y="1470235"/>
            <a:ext cx="1463100" cy="3783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11475" y="1470235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920237" y="1470235"/>
            <a:ext cx="10059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920237" y="1470235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Pontual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971798" y="1502441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Tirar dúvidas de comportamento, revisar flows em progresso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11475" y="1888920"/>
            <a:ext cx="83211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11475" y="1888920"/>
            <a:ext cx="1463100" cy="3783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11475" y="1888920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Semanal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920237" y="1888920"/>
            <a:ext cx="10059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920237" y="1888920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971798" y="1921126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Smoke test, exploratórios de features novas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11475" y="2307605"/>
            <a:ext cx="83211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11475" y="2307605"/>
            <a:ext cx="1463100" cy="378300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11475" y="2307605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Pré-freeze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920237" y="2307605"/>
            <a:ext cx="10059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920237" y="2307605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Intensa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971798" y="2339811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Regressão completa, priorização de bugs, comunicação de risco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11475" y="2726290"/>
            <a:ext cx="83211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11475" y="2726290"/>
            <a:ext cx="1463100" cy="3783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11475" y="2726290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Freeze / Release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920237" y="2726290"/>
            <a:ext cx="1005900" cy="3783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920237" y="2726290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Crítica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971798" y="2758496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Validação de fixes, go/no-go, métricas pós-release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11475" y="3144975"/>
            <a:ext cx="83211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11475" y="3144975"/>
            <a:ext cx="1463100" cy="378300"/>
          </a:xfrm>
          <a:prstGeom prst="rect">
            <a:avLst/>
          </a:prstGeom>
          <a:solidFill>
            <a:srgbClr val="639922"/>
          </a:solidFill>
          <a:ln cap="flat" cmpd="sng" w="12700">
            <a:solidFill>
              <a:srgbClr val="63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11475" y="3144975"/>
            <a:ext cx="1463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Pós-release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920237" y="3144975"/>
            <a:ext cx="1005900" cy="37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920237" y="3144975"/>
            <a:ext cx="1005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99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9922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971798" y="3177181"/>
            <a:ext cx="5715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Review de bugs escapados, atualização da suíte, retrospectiva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11505" y="3595940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Delegação: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11505" y="3897692"/>
            <a:ext cx="4023300" cy="274200"/>
          </a:xfrm>
          <a:prstGeom prst="rect">
            <a:avLst/>
          </a:prstGeom>
          <a:solidFill>
            <a:srgbClr val="639922"/>
          </a:solidFill>
          <a:ln cap="flat" cmpd="sng" w="12700">
            <a:solidFill>
              <a:srgbClr val="63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11505" y="3897692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Juniores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45" y="4208588"/>
            <a:ext cx="384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Execução de smoke tests e regressões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Registro de bugs (template padronizado)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Exploratórios em features de menor risco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Manutenção da suíte de regressão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617745" y="3897692"/>
            <a:ext cx="4023300" cy="2742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617745" y="3897692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Lead (você)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09185" y="4208588"/>
            <a:ext cx="384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Mapear fluxos + criar base da suíte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Definir DoR/DoD e critérios de aceite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Comunicar riscos e decisões de release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Testes exploratórios em áreas críticas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Mentoria + QA Guild + relacionamento com dev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QUESTÕES 6 &amp; DIFERENCIAL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Capacitação do Time &amp; Inovação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411480" y="10241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QA Guild</a:t>
            </a:r>
            <a:r>
              <a:rPr b="1" lang="en-US" sz="1300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 Ciclo de 8 Semanas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11480" y="1344168"/>
            <a:ext cx="4846320" cy="347472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11480" y="1344168"/>
            <a:ext cx="914400" cy="34747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11480" y="1344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1–2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371600" y="13807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Onboarding: mapeamento de fluxos críticos juntos, entendimento do 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1480" y="1746504"/>
            <a:ext cx="484632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11480" y="1746504"/>
            <a:ext cx="914400" cy="34747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11480" y="174650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3–4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371600" y="17830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Técnicas de teste: bons casos de teste, exploratório com charter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" y="2148840"/>
            <a:ext cx="4846320" cy="347472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11480" y="2148840"/>
            <a:ext cx="914400" cy="34747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11480" y="214884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5–6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371600" y="21854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Reportar bugs que geram ação: título, severidade, passos, evidências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11480" y="2551176"/>
            <a:ext cx="484632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11480" y="2551176"/>
            <a:ext cx="914400" cy="34747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11480" y="25511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7–8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371600" y="25877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Revisão do ciclo + apresentação dos juniores sobre área dominada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11480" y="2990088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Complementos: pair testing quinzenal  •  bug da semana  •  sessão de bugs escapados sem julgamento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40680" y="1024128"/>
            <a:ext cx="3291840" cy="36576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440680" y="1024128"/>
            <a:ext cx="3291840" cy="54864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440680" y="107899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Feature Flags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40680" y="14173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Diferencial Proposto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577840" y="16916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Feature entra na build com flag OFF por padrão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QA testa com flag ativa em ambiente controlado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Rollout gradual: 10% → 50% → 100% dos jogadores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Bug crítico pós-release? Flag OFF em segundos</a:t>
            </a: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sem novo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Elimina pressão de bloquear releases por features isoladas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440680" y="3913632"/>
            <a:ext cx="3291840" cy="50292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532120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Proposta colaborativa ao time de dev</a:t>
            </a:r>
            <a:r>
              <a:rPr i="1" lang="en-US" sz="9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reduz pressão deles também em crises de release.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11480" y="3337560"/>
            <a:ext cx="4846320" cy="50292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B3D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02920" y="3355848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Objetivo: não é só melhorar habilidades técnicas</a:t>
            </a:r>
            <a:r>
              <a:rPr i="1" lang="en-US" sz="1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0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 é criar senso de ownership de qualidade no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QUESTÃO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Decisão de Release</a:t>
            </a:r>
            <a:r>
              <a:rPr b="1" lang="en-US" sz="2200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 Bug Crítico no Freeze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411480" y="1051560"/>
            <a:ext cx="1965960" cy="7772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11480" y="1051560"/>
            <a:ext cx="196596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1480" y="110642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11480" y="149047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Severidade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514600" y="1051560"/>
            <a:ext cx="1965960" cy="7772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2514600" y="1051560"/>
            <a:ext cx="1965960" cy="54864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2514600" y="110642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514600" y="149047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Jogadores afetados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17720" y="1051560"/>
            <a:ext cx="1965960" cy="7772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617720" y="1051560"/>
            <a:ext cx="196596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617720" y="110642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2 dias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617720" y="149047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Tempo de correção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720840" y="1051560"/>
            <a:ext cx="1965960" cy="77724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720840" y="1051560"/>
            <a:ext cx="1965960" cy="54864"/>
          </a:xfrm>
          <a:prstGeom prst="rect">
            <a:avLst/>
          </a:prstGeom>
          <a:solidFill>
            <a:srgbClr val="777777"/>
          </a:solidFill>
          <a:ln cap="flat" cmpd="sng" w="127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720840" y="110642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Amanhã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720840" y="149047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Release planejado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solidFill>
            <a:srgbClr val="0D2D5A"/>
          </a:solidFill>
          <a:ln cap="flat" cmpd="sng" w="12700">
            <a:solidFill>
              <a:srgbClr val="0D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DECISÃO: Recomendar adiamento de 48h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11480" y="23317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Um bug crítico afetando 1 em cada 5 jogadores não é aceitável em um jogo focado em retenção. O dano à experiência e à reputação supera o custo de atrasar 48h.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11480" y="2798064"/>
            <a:ext cx="54864" cy="960120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548640" y="2798064"/>
            <a:ext cx="8138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"Identificamos um bug crítico que afeta ~20% dos jogadores. Correção estimada: 2 dias. Recomendo adiar o release por 48h. Lançar agora representa risco de impacto na retenção e possível hotfix emergencial</a:t>
            </a:r>
            <a:r>
              <a:rPr i="1" lang="en-US" sz="1100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 custo maior que o adiamento."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11480" y="38221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Se a decisão for lançar mesmo assim: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11480" y="41148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Documento formalmente o risco e minha recomendação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Plano de hotfix imediato já preparado para o dia seguinte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Monitoro métricas de impacto nas primeiras horas pós-release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577840" y="3822192"/>
            <a:ext cx="3154680" cy="1051560"/>
          </a:xfrm>
          <a:prstGeom prst="rect">
            <a:avLst/>
          </a:prstGeom>
          <a:solidFill>
            <a:srgbClr val="FEF9E7"/>
          </a:solidFill>
          <a:ln cap="flat" cmpd="sng" w="12700">
            <a:solidFill>
              <a:srgbClr val="F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669280" y="3858768"/>
            <a:ext cx="2971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Não bloqueio unilateralmente</a:t>
            </a:r>
            <a:r>
              <a:rPr i="1" lang="en-US" sz="1050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05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 mas a posição de QA fica registrada com clareza. Isso protege o time e o produto.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PLANO DE EXECUÇÃO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11480" y="43891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Gráfico de Gantt</a:t>
            </a:r>
            <a:r>
              <a:rPr b="1" lang="en-US" sz="2200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 10 Sprints × 15 dias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>
            <a:off x="411480" y="896112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60120"/>
            <a:ext cx="85953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2286000" y="4864608"/>
            <a:ext cx="164592" cy="16459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2487168" y="48463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657600" y="4864608"/>
            <a:ext cx="164592" cy="164592"/>
          </a:xfrm>
          <a:prstGeom prst="rect">
            <a:avLst/>
          </a:prstGeom>
          <a:solidFill>
            <a:srgbClr val="639922"/>
          </a:solidFill>
          <a:ln cap="flat" cmpd="sng" w="12700">
            <a:solidFill>
              <a:srgbClr val="63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858768" y="48463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Junior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029200" y="4864608"/>
            <a:ext cx="164592" cy="164592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5230368" y="48463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Junior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400800" y="4864608"/>
            <a:ext cx="164592" cy="164592"/>
          </a:xfrm>
          <a:prstGeom prst="rect">
            <a:avLst/>
          </a:prstGeom>
          <a:solidFill>
            <a:srgbClr val="7F77DD"/>
          </a:solidFill>
          <a:ln cap="flat" cmpd="sng" w="12700">
            <a:solidFill>
              <a:srgbClr val="7F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601968" y="48463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11480" y="43891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Por Onde Eu Começaria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1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1"/>
          <p:cNvSpPr/>
          <p:nvPr/>
        </p:nvSpPr>
        <p:spPr>
          <a:xfrm>
            <a:off x="411480" y="102412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Antes de propor qualquer processo ou ferramenta, os primeiros dias seriam dedicados a ouvir. Não chego com respostas prontas</a:t>
            </a: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chego com perguntas.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1480" y="1600200"/>
            <a:ext cx="2651760" cy="320040"/>
          </a:xfrm>
          <a:prstGeom prst="rect">
            <a:avLst/>
          </a:prstGeom>
          <a:solidFill>
            <a:srgbClr val="639922"/>
          </a:solidFill>
          <a:ln cap="flat" cmpd="sng" w="12700">
            <a:solidFill>
              <a:srgbClr val="63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11480" y="16002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Juniores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11480" y="1920240"/>
            <a:ext cx="2651760" cy="16002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21208" y="199339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Entender nível de autonomia atual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Como priorizam o que testar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Onde se sentem inseguros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Define ponto de partida real da capacitação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227832" y="1600200"/>
            <a:ext cx="2651760" cy="32004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227832" y="16002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Devs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227832" y="1920240"/>
            <a:ext cx="2651760" cy="16002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3337560" y="199339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Construir abertura, não fiscalização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Mostrar que QA resolve problemas deles também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Time resistente a mudança ≠ resistente a melhoria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É resistente a ser interrompido ou julgado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044184" y="1600200"/>
            <a:ext cx="2651760" cy="320040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044184" y="16002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044184" y="1920240"/>
            <a:ext cx="2651760" cy="1600200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6153912" y="199339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Bugs reportados e histórico de releases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Tickets em aberto por área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Cruzar o que ouvi com o que os números mostram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Plano de ação começa do dia 2 em diante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11480" y="3611880"/>
            <a:ext cx="8321040" cy="59436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B3D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11480" y="3611880"/>
            <a:ext cx="64008" cy="59436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548640" y="3630168"/>
            <a:ext cx="80924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"Processo sem confiança não sobrevive à primeira sprint. O dia 1 é para ganhar contexto e, principalmente, começar a ganhar confiança."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11480" y="43159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D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D5A"/>
                </a:solidFill>
                <a:latin typeface="Calibri"/>
                <a:ea typeface="Calibri"/>
                <a:cs typeface="Calibri"/>
                <a:sym typeface="Calibri"/>
              </a:rPr>
              <a:t>O Diferencial: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11480" y="459028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"Um bug crítico que afeta 20% dos jogadores não é um problema de QA</a:t>
            </a:r>
            <a:r>
              <a:rPr i="1" lang="en-US" sz="105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05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 é um problema de receita e de reputação. Meu trabalho é fazer o time enxergar isso antes que aconteça, não depois."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1645920"/>
            <a:ext cx="6583680" cy="2286000"/>
          </a:xfrm>
          <a:prstGeom prst="rect">
            <a:avLst/>
          </a:prstGeom>
          <a:solidFill>
            <a:srgbClr val="0D2D5A">
              <a:alpha val="90196"/>
            </a:srgbClr>
          </a:solidFill>
          <a:ln cap="flat" cmpd="sng" w="12700">
            <a:solidFill>
              <a:srgbClr val="0D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0" y="1645920"/>
            <a:ext cx="109728" cy="2286000"/>
          </a:xfrm>
          <a:prstGeom prst="rect">
            <a:avLst/>
          </a:prstGeom>
          <a:solidFill>
            <a:srgbClr val="378ADD"/>
          </a:solidFill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274320" y="173736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274320" y="23774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C4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Pronto para elevar a qualidade da Nebula Forge Studios.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2"/>
          <p:cNvCxnSpPr/>
          <p:nvPr/>
        </p:nvCxnSpPr>
        <p:spPr>
          <a:xfrm>
            <a:off x="274320" y="283464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2"/>
          <p:cNvSpPr/>
          <p:nvPr/>
        </p:nvSpPr>
        <p:spPr>
          <a:xfrm>
            <a:off x="274320" y="29718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Thales Fernandes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74320" y="325526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C4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r>
              <a:rPr lang="en-US" sz="1100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9BC4E8"/>
                </a:solidFill>
                <a:latin typeface="Calibri"/>
                <a:ea typeface="Calibri"/>
                <a:cs typeface="Calibri"/>
                <a:sym typeface="Calibri"/>
              </a:rPr>
              <a:t> INO Games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